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BF7"/>
          </a:solidFill>
          <a:ln w="2540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BRIEFING</a:t>
            </a:r>
          </a:p>
          <a:p>
            <a:pPr>
              <a:spcAft>
                <a:spcPts val="1000"/>
              </a:spcAft>
              <a:defRPr sz="2400" b="1">
                <a:solidFill>
                  <a:srgbClr val="E8590C"/>
                </a:solidFill>
                <a:latin typeface="Arial Rounded MT Bold"/>
              </a:defRPr>
            </a:pPr>
            <a:r>
              <a:t>藥華醫藥集團 全球資安治理、戰時應變與 C-Suite 鐵三角戰略簡報</a:t>
            </a:r>
          </a:p>
          <a:p>
            <a:pPr>
              <a:spcAft>
                <a:spcPts val="2400"/>
              </a:spcAft>
              <a:defRPr sz="1300">
                <a:solidFill>
                  <a:srgbClr val="232629"/>
                </a:solidFill>
                <a:latin typeface="Arial Rounded MT Bold"/>
              </a:defRPr>
            </a:pPr>
            <a:r>
              <a:t>守護 Besremi® 專利 CMC 智財 ｜ 雙軌平行應變模型 ｜ Gartner CIO/CTO/CISO 權責分工 ｜ 長態免疫治理</a:t>
            </a:r>
          </a:p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Arial Rounded MT Bold"/>
              </a:defRPr>
            </a:pPr>
            <a:r>
              <a:t>✦ 報告人 Howard Liao Ph.D.(廖倫豪 博士)</a:t>
            </a:r>
          </a:p>
          <a:p>
            <a:pPr>
              <a:defRPr sz="1050">
                <a:solidFill>
                  <a:srgbClr val="5F6670"/>
                </a:solidFill>
                <a:latin typeface="Arial Rounded MT Bold"/>
              </a:defRPr>
            </a:pPr>
            <a:r>
              <a:t>呈報對象：藥華醫藥 董事會 ｜ 審計委員會 ｜ 總經理 ｜ 人資長 ｜ 法務室</a:t>
            </a:r>
            <a:br/>
            <a:r>
              <a:t>適用標準：NIST CSF 2.0 ｜ FDA 21 CFR Part 11 ｜ ISO 27001 / 42001 ｜ 安全密級：極機密 (TLP:AMBER)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一、 執行摘要：我的五大核心戰略判定 (Executive Takeaways)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12801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CROWN JEWELS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0 外洩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Besremi CMC 專利加密完好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371600"/>
            <a:ext cx="2514600" cy="12801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48456" y="15087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PRODUCTION OT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100% 正常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台中 GMP 廠 Purdue 隔離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2514600" cy="12801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087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EDR COVERAGE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99.6%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泛泰 18 台盲點已補齊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371600"/>
            <a:ext cx="2514600" cy="12801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8" y="15087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IMMUTABLE BACKUP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WORM 鎖定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S3 Object Lock 乾淨可復原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728655" cy="3474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✦ 我對藥華醫藥全域資安防護之五大判定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核心專利與生產製造受控：藥華藥核心專利（Besremi® CMC 參數）底層結構化加密完好，台中蛋白質新藥廠 GMP 產線實體隔離正常。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判定暗網威脅本質為聲譽施壓：TheGentlemen 勒索組織於暗網釋出之檔案屬子公司一般通訊錄，無核心研發機密外洩。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應變採雙軌平行架構：即時鑑識委由第三方 DFIR 專案處理以確保法律特權；CISO 職位循董事會正式遴選程序，杜絕利益衝突。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落實 GxP 資料完整性為復原唯一門檻：遵循 FDA 21 CFR Part 11 與 ALCOA+ 原則，由 QA、CSV、System Owner 與 CISO 共同簽字放行。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建立日/週/月/季/年長態免疫體系：以 NIST CSF 2.0 重塑自適應防禦，推動特權 FIDO2 MFA、UEBA 行為 AI 監控與不可變備份 WORM。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二、 威脅鑑識：TheGentlemen 勒索事件解構與王冠資產保護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THREAT HUNTING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暗網洩密分析與攻擊鏈 (MITRE ATT&amp;CK)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DLS 洩密點名：TheGentlemen 點名藥華藥並展示 2024 財務通訊錄縮圖。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展示資料範疇：經沙箱比對，確認為泛泰醫療一般行政資料，無核心 CMC 專利。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初始入侵點：利用歷史外洩帳密撞庫與泛泰醫療 VPN 邊界弱點突破。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橫向滲透軌跡：嘗試調用 Mimikatz 導出 LSASS，已被 EDR 與端點隔離全數阻斷。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仿冒網域下架：已通報 Registrar 與 TWCERT/CC 成功下架 pharmaessentiacorp.com 等 4 組網域。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CROWN JEWELS DEFENSE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王冠資產 (Crown Jewels) 極限防護狀態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Besremi® 專利保護：分子結構與 CMC 製程參數採用客戶自管金鑰 (CMK) 加密，未見外傳軌跡。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台中 GMP 蛋白質廠：SCADA 監控與 PLC 控制器落實 Purdue Model 實體隔離 (Air-gap)，生產 100% 穩定。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LIMS / MES 資料完整性：抽查近 30 天 Audit Trail，符合 ALCOA+ 與 FDA 21 CFR Part 11 要求。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備份隔離防護：S3 Object Lock 處於 Compliance 模式，具備 WORM 不可竄改保護。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公關與資本市場穩定：依法發布 MOPS 重訊，主動澄清不實宣稱，維護投資人信心。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三、 戰時應變：外部 DFIR 團隊進駐程序與 14 天 WBS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1.0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1: 法律特權 (T+4h)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外部法務簽署委任書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享有 Attorney-Client Privilege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界定鑑識法定範疇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2.0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2: 證據保全 (T+18h)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RAM Dump 記憶體採集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KAPE 磁碟假影萃取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SHA-256 CoC 監管清冊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3.0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3: 深度鑑識 (T+36h)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初始入侵點 (Patient Zero)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Mimikatz/WMI 軌跡分析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產出專案 IOC 特徵庫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4.0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4: 暗網比對 (T+48h)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安全沙箱驗證外洩樣本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CMC 專利安全性覆核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確認無核心數據外洩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5.0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5: 根除放行 (T+72h)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krbtgt 帳號雙重輪替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Clean Room 隔離還原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Gate 4 威脅清零放行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86200"/>
            <a:ext cx="3474720" cy="23317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WBS 6.0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Phase 6: 結案申報 (T+14d)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出具正式 DFIR 報告書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對接調查局與 SEC/MOPS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提報董事會結案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四、 全域資產盤點：四大技術兵種 SOP 與 GxP 確效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SOP-NET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網路主管 (Network)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清查公網暴露面與 VPN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切斷泛泰醫療專線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封鎖 445/135/3389 埠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啟用 DNS RPZ 動態阻斷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SOP-INF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硬體主管 (Infra)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盤點 VMware 與儲存庫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備份主機實體斷網 (Air-gap)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受害 VM 拔 vNIC 拍照快照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搭建隔離 Clean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SOP-SEC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資安主管 (SecOps)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清查全域 EDR 盲點 (99.6%)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採集 RAM Dump 建立證據鏈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全域派發 YARA 規則清零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暗網 DLS 7x24 洩密監控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SOP-MIS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MIS 主管 (Apps)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盤點特權與廠商帳號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強制重設全域管理員密碼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AD krbtgt 雙重密碼輪替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啟用 BCP 手工備援流程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五、 身分動態防禦：UEBA / ITDR 行為監控與秒級獵捕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ANOMALY 1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不可能移動 (Impossible Travel)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跨國身分異常偵測：台北同仁登入後 1 小時內自東歐 VPN 連入。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即時判定：UEBA 判定為憑證遭撞庫外洩，風險分數達 95 分。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自動處置：自動撤銷 Session Token 並強制觸發 FIDO2 實體驗證。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ANOMALY 2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Besremi 專利防竊密 (Crown Jewels)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專利庫異常下載：研發人員或即將異動者短時間內批次導出 CMC 數據。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行為基線比對：偏離個人 30 天歷史常態讀取基線達 +80%。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自動處置：即刻凍結檔案下載權限，將事件升級至 CISO 戰情室。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ANOMALY 3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GxP Audit Trail 自動化稽核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21 CFR Part 11 監控：LIMS / MES 出現非檢驗時段修改數據或時間戳跳躍。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自動偏差標註：AI 自動關聯資料庫變更與特權操作紀錄。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合規交付：自動產出 GxP Deviation 偏差報告供 QA 進行品保調查。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六、 CISO 180 天就任戰略計劃書 (NIST CSF 2.0)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GOVERN / IDENTIFY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第 0–30 天 (Assess)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全集團 EASM 攻擊面測繪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Crown Jewels 專利盤點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簽署常年 DFIR Retainer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建立 SEV-1 緊急授權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PROTECT / DETECT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第 31–60 天 (Design)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全域郵件配置 DMARC p=reject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強制 FIDO2 抗釣魚 MFA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核心伺服器微隔離部署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台中廠 OT 隔離檢核清冊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GOVERN / RESPOND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第 61–90 天 (Pilot)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主導 1 次董事會重大兵推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勒索/BEC 劇本實戰演練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對齊 ISO 27001/42001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第三方供應鏈合約資安修訂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RECOVER / GOVERN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第 91–180 天 (Scale)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Top 3 SOAR 自動化劇本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AI 輔助 SecOps 威脅獵捕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多雲 FinOps 成本最佳化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上線即時 KRI/KPI 儀表板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七、 長態免疫體系：日常主動預防報告架構 (日/週/月/季/年)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7x24 MONITOR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日報 (Daily)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SOC 7x24 威脅與告警日報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EASM 外部攻擊面/仿冒日報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特權帳號異常登入日報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門檻：Critical 15分內隔離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SLA &amp; HEALTH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週報 (Weekly)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弱點掃描與修補 SLA 週報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子公司 VPN 專線健康週報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全域郵件 DMARC 攔截週報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門檻：公網弱點逾期下線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GxP &amp; BACKUP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月報 (Monthly)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不可變備份健康與還原月報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GxP 21 CFR 11 Audit Trail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特權帳號複核與閒置清理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員工社交工程釣魚演練月報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78608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508760"/>
            <a:ext cx="221284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BOARD KRI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季報/年報 (Quarter/Year)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董事會資安治理季報 (KRI)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第三方供應鏈 (SCRM) 評鑑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重大事件兵推演練季報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年度 NIST CSF 2.0 成熟度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八、 Gartner 高階技術鐵三角：CIO / CTO / CISO 權責分工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1ST LINE OF DEFENSE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CIO 資訊長 (第一道防線)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核心職責：企業營運賦能與多雲架構。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管轄系統：SAP S/4HANA、LIMS、MES、全球跨國 SD-WAN 骨幹。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核心指標：Tier-0 系統 99.99% 可用、多雲 FinOps 成本優化 -30%。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角色定位：企業營運的「油門（速度與效率）」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R&amp;D INNOVATION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CTO 技術長 (研發創新線)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核心職責：新藥研發與前瞻技術攻關。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管轄系統：AI 藥物篩選、生物資訊算力、臨床 EDC 試驗數據。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核心指標：新藥數據產能提升 +50%、IND/NDA 交付 100% 準時。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角色定位：研發創新的「方向盤（前瞻與交付）」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2ND LINE OF DEFENSE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CISO 資安長 (獨立第二道防線)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核心職責：全集團數位主權與網路韌性。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管轄系統：NIST CSF 2.0、Besremi 專利加密、FIDO2、UEBA、備份。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核心指標：核心專利 0 外洩、台中廠 100% 穩定、21 CFR 11 合規。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角色定位：企業主權的「安全氣囊與剎車（韌性與信任）」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590C"/>
                </a:solidFill>
                <a:latin typeface="Arial Rounded MT Bold"/>
              </a:defRPr>
            </a:pPr>
            <a:r>
              <a:t>● ▲ ★  PHARMAESSENTIA CORP. (6446.TW) ｜ EXECUTIVE STRATEGIC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590C"/>
                </a:solidFill>
                <a:latin typeface="Arial Rounded MT Bold"/>
              </a:defRPr>
            </a:pPr>
            <a:r>
              <a:t>九、 決策呈核與專案簽署 (Executive Sign-off)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GOVERNANCE APPROVAL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✦ 提請董事會與經營團隊核定事項 (Decisions Required)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核定資安應變結案與治理方案：確認核心專利 CMC 加密完好、台中蛋白質新藥廠 GMP 產線穩定，通過內部全域威脅清零放行。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核准啟動 180 天自適應防禦加固：推動全域身分零信任 (FIDO2)、UEBA 行為 AI 監測平台、不可變備份 WORM 庫與 DMARC 全球防偽冒。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確立 C-Suite 鐵三角職能分工：依 Gartner 模型確立 CIO（營運）、CTO（研發）與 CISO（獨立第二道防線）權責章程。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29000" cy="25603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PROPOSER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規劃提案人 (我 / 廖博士)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簽名：____________________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廖倫豪 博士 (Howard Liao, Ph.D.)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Group CISO 候選人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日期：2026 年 8 月 31 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429000" cy="25603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794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REVIEWER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審閱 (CHRO / CEO)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簽名：____________________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人資長 / 總經理 代表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日期：2026 年 8 月    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429000" cy="256032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794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 Rounded MT Bold"/>
              </a:defRPr>
            </a:pPr>
            <a:r>
              <a:t>APPROVAL</a:t>
            </a:r>
          </a:p>
          <a:p>
            <a:pPr>
              <a:spcAft>
                <a:spcPts val="600"/>
              </a:spcAft>
              <a:defRPr sz="1300" b="1">
                <a:solidFill>
                  <a:srgbClr val="E8590C"/>
                </a:solidFill>
                <a:latin typeface="Arial Rounded MT Bold"/>
              </a:defRPr>
            </a:pPr>
            <a:r>
              <a:t>核定 (Board / Audit)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簽名：____________________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董事長 / 審計委員會代表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000">
                <a:solidFill>
                  <a:srgbClr val="232629"/>
                </a:solidFill>
                <a:latin typeface="Arial Rounded MT Bold"/>
              </a:defRPr>
            </a:pPr>
            <a:r>
              <a:t>• 日期：2026 年 8 月   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